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54667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1 / 9</a:t>
            </a:r>
          </a:p>
        </p:txBody>
      </p:sp>
      <p:sp>
        <p:nvSpPr>
          <p:cNvPr id="4" name="Oval 3"/>
          <p:cNvSpPr/>
          <p:nvPr/>
        </p:nvSpPr>
        <p:spPr>
          <a:xfrm>
            <a:off x="533400" y="1428750"/>
            <a:ext cx="590550" cy="590550"/>
          </a:xfrm>
          <a:prstGeom prst="ellipse">
            <a:avLst/>
          </a:prstGeom>
          <a:noFill/>
          <a:ln w="23812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52475" y="1647825"/>
            <a:ext cx="152400" cy="15240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3400" y="22860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PROJECT O · CHALLENGE 1 — DEPOSIT BREAKDOWN &amp;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33650"/>
            <a:ext cx="111252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4050" b="1" i="0">
                <a:solidFill>
                  <a:srgbClr val="F8FAFC"/>
                </a:solidFill>
                <a:latin typeface="Arial"/>
              </a:rPr>
              <a:t>Exchange O —</a:t>
            </a:r>
          </a:p>
          <a:p>
            <a:pPr algn="l">
              <a:lnSpc>
                <a:spcPct val="104000"/>
              </a:lnSpc>
            </a:pPr>
            <a:r>
              <a:rPr sz="4050" b="1" i="0">
                <a:solidFill>
                  <a:srgbClr val="F8FAFC"/>
                </a:solidFill>
                <a:latin typeface="Arial"/>
              </a:rPr>
              <a:t>Deposit Reconciliation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3848100"/>
            <a:ext cx="5905500" cy="9525"/>
          </a:xfrm>
          <a:prstGeom prst="rect">
            <a:avLst/>
          </a:prstGeom>
          <a:solidFill>
            <a:srgbClr val="057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4076700"/>
            <a:ext cx="78105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425" b="0" i="0">
                <a:solidFill>
                  <a:srgbClr val="94A3B8"/>
                </a:solidFill>
                <a:latin typeface="Arial"/>
              </a:rPr>
              <a:t>Closing the gap between </a:t>
            </a:r>
            <a:r>
              <a:rPr sz="1425" b="1" i="0">
                <a:solidFill>
                  <a:srgbClr val="F8FAFC"/>
                </a:solidFill>
                <a:latin typeface="Arial"/>
              </a:rPr>
              <a:t>“your transaction went through”</a:t>
            </a:r>
            <a:r>
              <a:rPr sz="1425" b="0" i="0">
                <a:solidFill>
                  <a:srgbClr val="94A3B8"/>
                </a:solidFill>
                <a:latin typeface="Arial"/>
              </a:rPr>
              <a:t> and </a:t>
            </a:r>
            <a:r>
              <a:rPr sz="1425" b="1" i="0">
                <a:solidFill>
                  <a:srgbClr val="F8FAFC"/>
                </a:solidFill>
                <a:latin typeface="Arial"/>
              </a:rPr>
              <a:t>“your collateral is tradable.”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87680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1" i="0">
                <a:solidFill>
                  <a:srgbClr val="F1F5F9"/>
                </a:solidFill>
                <a:latin typeface="Arial"/>
              </a:rPr>
              <a:t>Ryu Matsumoto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4924425"/>
            <a:ext cx="4000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onsolas"/>
              </a:rPr>
              <a:t>SUBMISSION · 3-MINUTE WALKTHROUGH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5391150"/>
            <a:ext cx="2008331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8175" y="5495925"/>
            <a:ext cx="57150" cy="5715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1525" y="5391150"/>
            <a:ext cx="1665431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LIVE ON ARBITRUM SEPOLIA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6981" y="5391150"/>
            <a:ext cx="2216510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2741756" y="5495925"/>
            <a:ext cx="57150" cy="5715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875106" y="5391150"/>
            <a:ext cx="187361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7 REAL TESTNET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8742" y="5391150"/>
            <a:ext cx="2008331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053517" y="5495925"/>
            <a:ext cx="57150" cy="5715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86867" y="5391150"/>
            <a:ext cx="1665431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WORKING POC, NOT MOCKUPS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09333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05550"/>
            <a:ext cx="82677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STEPS 2 · 3 · 7 CAN EACH BE A DIFFERENT WALLET — NOTHING LABELS WHICH IS WHICH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1100" y="63055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SUBMISSION.MD 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01 —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The deposit journey today: 8 steps, one blind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KOL link → tradable collateral. Every step has an owner and a real completion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8175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E2E8F0"/>
                </a:solidFill>
                <a:latin typeface="Arial"/>
              </a:rPr>
              <a:t>Arrive via KOL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646E7D"/>
                </a:solidFill>
                <a:latin typeface="Arial"/>
              </a:rPr>
              <a:t>attribution can silently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64748B"/>
                </a:solidFill>
                <a:latin typeface="Consolas"/>
              </a:rPr>
              <a:t>KOL → PROJECT 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4766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39541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541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E2E8F0"/>
                </a:solidFill>
                <a:latin typeface="Arial"/>
              </a:rPr>
              <a:t>Sign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541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646E7D"/>
                </a:solidFill>
                <a:latin typeface="Arial"/>
              </a:rPr>
              <a:t>method may not match where funds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541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64748B"/>
                </a:solidFill>
                <a:latin typeface="Consolas"/>
              </a:rPr>
              <a:t>USER + PRIVY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6131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40906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0906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E2E8F0"/>
                </a:solidFill>
                <a:latin typeface="Arial"/>
              </a:rPr>
              <a:t>Identify funding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0906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646E7D"/>
                </a:solidFill>
                <a:latin typeface="Arial"/>
              </a:rPr>
              <a:t>“which wallet has the money?”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0906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64748B"/>
                </a:solidFill>
                <a:latin typeface="Consolas"/>
              </a:rPr>
              <a:t>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7497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42272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272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E2E8F0"/>
                </a:solidFill>
                <a:latin typeface="Arial"/>
              </a:rPr>
              <a:t>Get funds + gas on Arbitrum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272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646E7D"/>
                </a:solidFill>
                <a:latin typeface="Arial"/>
              </a:rPr>
              <a:t>no gas token on the destination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2272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64748B"/>
                </a:solidFill>
                <a:latin typeface="Consolas"/>
              </a:rPr>
              <a:t>USER + BRIDGE / CEX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8862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43638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3638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E2E8F0"/>
                </a:solidFill>
                <a:latin typeface="Arial"/>
              </a:rPr>
              <a:t>Approve token spend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3638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646E7D"/>
                </a:solidFill>
                <a:latin typeface="Arial"/>
              </a:rPr>
              <a:t>defaults to unlimited allowance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3638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64748B"/>
                </a:solidFill>
                <a:latin typeface="Consolas"/>
              </a:rPr>
              <a:t>USER + CONTRACT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0228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B1911"/>
          </a:solidFill>
          <a:ln w="9525">
            <a:solidFill>
              <a:srgbClr val="765D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45003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FBBF24"/>
                </a:solidFill>
                <a:latin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5003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FEF3C7"/>
                </a:solidFill>
                <a:latin typeface="Arial"/>
              </a:rPr>
              <a:t>Submit deposit tx → receipt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5003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D0BD72"/>
                </a:solidFill>
                <a:latin typeface="Arial"/>
              </a:rPr>
              <a:t>receipt ≠ usable funds — the trap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5003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C3961F"/>
                </a:solidFill>
                <a:latin typeface="Consolas"/>
              </a:rPr>
              <a:t>USER + PROVIDER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41594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B1911"/>
          </a:solidFill>
          <a:ln w="9525">
            <a:solidFill>
              <a:srgbClr val="765D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46369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FBBF24"/>
                </a:solidFill>
                <a:latin typeface="Consolas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6369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FEF3C7"/>
                </a:solidFill>
                <a:latin typeface="Arial"/>
              </a:rPr>
              <a:t>Collateral reflected on Hyperliquid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6369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D0BD72"/>
                </a:solidFill>
                <a:latin typeface="Arial"/>
              </a:rPr>
              <a:t>real delay, zero visibility today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6369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C3961F"/>
                </a:solidFill>
                <a:latin typeface="Consolas"/>
              </a:rPr>
              <a:t>EXTERNAL PROVIDER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42959" y="1697355"/>
            <a:ext cx="1315641" cy="2324100"/>
          </a:xfrm>
          <a:prstGeom prst="roundRect">
            <a:avLst>
              <a:gd name="adj" fmla="val 6515"/>
            </a:avLst>
          </a:prstGeom>
          <a:solidFill>
            <a:srgbClr val="1B1911"/>
          </a:solidFill>
          <a:ln w="9525">
            <a:solidFill>
              <a:srgbClr val="765D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447734" y="182118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FBBF24"/>
                </a:solidFill>
                <a:latin typeface="Consolas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7734" y="2030730"/>
            <a:ext cx="110609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2" b="1" i="0">
                <a:solidFill>
                  <a:srgbClr val="FEF3C7"/>
                </a:solidFill>
                <a:latin typeface="Arial"/>
              </a:rPr>
              <a:t>User sees “ready to trade”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7734" y="2602230"/>
            <a:ext cx="1106091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D0BD72"/>
                </a:solidFill>
                <a:latin typeface="Arial"/>
              </a:rPr>
              <a:t>silence reads as failure → re-deposit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734" y="3783330"/>
            <a:ext cx="1106091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12" b="0" i="0">
                <a:solidFill>
                  <a:srgbClr val="C3961F"/>
                </a:solidFill>
                <a:latin typeface="Consolas"/>
              </a:rPr>
              <a:t>PROJECT 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0228" y="4135755"/>
            <a:ext cx="4118372" cy="304800"/>
          </a:xfrm>
          <a:prstGeom prst="roundRect">
            <a:avLst>
              <a:gd name="adj" fmla="val 25000"/>
            </a:avLst>
          </a:prstGeom>
          <a:solidFill>
            <a:srgbClr val="1D1A12"/>
          </a:solidFill>
          <a:ln w="9525">
            <a:solidFill>
              <a:srgbClr val="6A5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540228" y="4135755"/>
            <a:ext cx="4118372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62" b="1" i="0">
                <a:solidFill>
                  <a:srgbClr val="FDE68A"/>
                </a:solidFill>
                <a:latin typeface="Consolas"/>
              </a:rPr>
              <a:t>THE FRICTION ZONE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3400" y="4631055"/>
            <a:ext cx="11125200" cy="723900"/>
          </a:xfrm>
          <a:prstGeom prst="roundRect">
            <a:avLst>
              <a:gd name="adj" fmla="val 13157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04850" y="4764405"/>
            <a:ext cx="107823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FDE68A"/>
                </a:solidFill>
                <a:latin typeface="Arial"/>
              </a:rPr>
              <a:t>A receipt is </a:t>
            </a:r>
            <a:r>
              <a:rPr sz="1125" b="1" i="0">
                <a:solidFill>
                  <a:srgbClr val="FEF3C7"/>
                </a:solidFill>
                <a:latin typeface="Arial"/>
              </a:rPr>
              <a:t>not</a:t>
            </a:r>
            <a:r>
              <a:rPr sz="1125" b="0" i="0">
                <a:solidFill>
                  <a:srgbClr val="FDE68A"/>
                </a:solidFill>
                <a:latin typeface="Arial"/>
              </a:rPr>
              <a:t> credited collateral. Today steps 6→8 are silent — so “still bridging,” “no gas,” and “failed” all look identical. Users assume failure and </a:t>
            </a:r>
            <a:r>
              <a:rPr sz="1125" b="1" i="0">
                <a:solidFill>
                  <a:srgbClr val="FEF3C7"/>
                </a:solidFill>
                <a:latin typeface="Arial"/>
              </a:rPr>
              <a:t>re-deposit</a:t>
            </a:r>
            <a:r>
              <a:rPr sz="1125" b="0" i="0">
                <a:solidFill>
                  <a:srgbClr val="FDE68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000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02 —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Why this is the single biggest friction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Not one of several equally-good options — four independent reasons.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697355"/>
            <a:ext cx="5476875" cy="1409700"/>
          </a:xfrm>
          <a:prstGeom prst="roundRect">
            <a:avLst>
              <a:gd name="adj" fmla="val 675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3900" y="1887855"/>
            <a:ext cx="4381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6F2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186880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1" i="0">
                <a:solidFill>
                  <a:srgbClr val="E2E8F0"/>
                </a:solidFill>
                <a:latin typeface="Arial"/>
              </a:rPr>
              <a:t>The brief itself names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2173605"/>
            <a:ext cx="4657725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4A3B8"/>
                </a:solidFill>
                <a:latin typeface="Arial"/>
              </a:rPr>
              <a:t>“Complete only when tradable collateral is reflected — </a:t>
            </a:r>
            <a:r>
              <a:rPr sz="1050" b="1" i="0">
                <a:solidFill>
                  <a:srgbClr val="F8FAFC"/>
                </a:solidFill>
                <a:latin typeface="Arial"/>
              </a:rPr>
              <a:t>not</a:t>
            </a:r>
            <a:r>
              <a:rPr sz="1050" b="0" i="0">
                <a:solidFill>
                  <a:srgbClr val="94A3B8"/>
                </a:solidFill>
                <a:latin typeface="Arial"/>
              </a:rPr>
              <a:t> when a receipt is issued.”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725" y="1697355"/>
            <a:ext cx="5476875" cy="1409700"/>
          </a:xfrm>
          <a:prstGeom prst="roundRect">
            <a:avLst>
              <a:gd name="adj" fmla="val 675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72225" y="1887855"/>
            <a:ext cx="4381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6F2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186880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1" i="0">
                <a:solidFill>
                  <a:srgbClr val="E2E8F0"/>
                </a:solidFill>
                <a:latin typeface="Arial"/>
              </a:rPr>
              <a:t>Documented in the wild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2173605"/>
            <a:ext cx="4657725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4A3B8"/>
                </a:solidFill>
                <a:latin typeface="Arial"/>
              </a:rPr>
              <a:t>Third-party “deposit stuck” guides exist. Their first instruction: </a:t>
            </a:r>
            <a:r>
              <a:rPr sz="1050" b="1" i="0">
                <a:solidFill>
                  <a:srgbClr val="F8FAFC"/>
                </a:solidFill>
                <a:latin typeface="Arial"/>
              </a:rPr>
              <a:t>“do not send a second deposit.”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3259455"/>
            <a:ext cx="5476875" cy="1409700"/>
          </a:xfrm>
          <a:prstGeom prst="roundRect">
            <a:avLst>
              <a:gd name="adj" fmla="val 675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3900" y="3449955"/>
            <a:ext cx="4381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6F2F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343090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1" i="0">
                <a:solidFill>
                  <a:srgbClr val="E2E8F0"/>
                </a:solidFill>
                <a:latin typeface="Arial"/>
              </a:rPr>
              <a:t>Hits exactly this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3735705"/>
            <a:ext cx="4657725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4A3B8"/>
                </a:solidFill>
                <a:latin typeface="Arial"/>
              </a:rPr>
              <a:t>Korean CEX withdrawers, KOL-referred, mobile — least equipped to read ambiguous silence.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725" y="3259455"/>
            <a:ext cx="5476875" cy="1409700"/>
          </a:xfrm>
          <a:prstGeom prst="roundRect">
            <a:avLst>
              <a:gd name="adj" fmla="val 675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72225" y="3449955"/>
            <a:ext cx="4381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6F2FF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343090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75" b="1" i="0">
                <a:solidFill>
                  <a:srgbClr val="E2E8F0"/>
                </a:solidFill>
                <a:latin typeface="Arial"/>
              </a:rPr>
              <a:t>It causes financial harm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3735705"/>
            <a:ext cx="4657725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4A3B8"/>
                </a:solidFill>
                <a:latin typeface="Arial"/>
              </a:rPr>
              <a:t>Duplicate deposits cost real money. Cosmetic friction only costs conversion.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4840605"/>
            <a:ext cx="11125200" cy="742950"/>
          </a:xfrm>
          <a:prstGeom prst="roundRect">
            <a:avLst>
              <a:gd name="adj" fmla="val 12820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850" y="4973955"/>
            <a:ext cx="107823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1" i="0">
                <a:solidFill>
                  <a:srgbClr val="CFFAFE"/>
                </a:solidFill>
                <a:latin typeface="Arial"/>
              </a:rPr>
              <a:t>Considered and rejected as the primary fix: </a:t>
            </a:r>
            <a:r>
              <a:rPr sz="1125" b="0" i="0">
                <a:solidFill>
                  <a:srgbClr val="A6F7FF"/>
                </a:solidFill>
                <a:latin typeface="Arial"/>
              </a:rPr>
              <a:t>sponsored gas (infra beyond PoC, and the gap remains) · wallet unification (explicitly out of scope — label, don’t merge) · cutting funnel steps (no real data — that would be a guess).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18667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03 —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Deposit Reconciliation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A real backend state machine — persistent records, not a UI illusion.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697355"/>
            <a:ext cx="1905000" cy="419100"/>
          </a:xfrm>
          <a:prstGeom prst="roundRect">
            <a:avLst>
              <a:gd name="adj" fmla="val 18181"/>
            </a:avLst>
          </a:prstGeom>
          <a:solidFill>
            <a:srgbClr val="10131A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9600" y="1697355"/>
            <a:ext cx="17526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E2E8F0"/>
                </a:solidFill>
                <a:latin typeface="Consolas"/>
              </a:rPr>
              <a:t>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1697355"/>
            <a:ext cx="28575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150" y="1697355"/>
            <a:ext cx="1905000" cy="419100"/>
          </a:xfrm>
          <a:prstGeom prst="roundRect">
            <a:avLst>
              <a:gd name="adj" fmla="val 18181"/>
            </a:avLst>
          </a:prstGeom>
          <a:solidFill>
            <a:srgbClr val="10131A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00350" y="1697355"/>
            <a:ext cx="17526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E2E8F0"/>
                </a:solidFill>
                <a:latin typeface="Consolas"/>
              </a:rPr>
              <a:t>CONFIRMED_ONCHAIN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1697355"/>
            <a:ext cx="28575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4900" y="1697355"/>
            <a:ext cx="1905000" cy="419100"/>
          </a:xfrm>
          <a:prstGeom prst="roundRect">
            <a:avLst>
              <a:gd name="adj" fmla="val 18181"/>
            </a:avLst>
          </a:prstGeom>
          <a:solidFill>
            <a:srgbClr val="10131A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91100" y="1697355"/>
            <a:ext cx="17526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E2E8F0"/>
                </a:solidFill>
                <a:latin typeface="Consolas"/>
              </a:rPr>
              <a:t>BRIDGING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1697355"/>
            <a:ext cx="28575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5650" y="1697355"/>
            <a:ext cx="1905000" cy="419100"/>
          </a:xfrm>
          <a:prstGeom prst="roundRect">
            <a:avLst>
              <a:gd name="adj" fmla="val 18181"/>
            </a:avLst>
          </a:prstGeom>
          <a:solidFill>
            <a:srgbClr val="0D1C1B"/>
          </a:solidFill>
          <a:ln w="9525">
            <a:solidFill>
              <a:srgbClr val="164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81850" y="1697355"/>
            <a:ext cx="17526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1" i="0">
                <a:solidFill>
                  <a:srgbClr val="D1FAE5"/>
                </a:solidFill>
                <a:latin typeface="Consolas"/>
              </a:rPr>
              <a:t>CREDITED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138" y="2116455"/>
            <a:ext cx="9525" cy="247650"/>
          </a:xfrm>
          <a:prstGeom prst="rect">
            <a:avLst/>
          </a:prstGeom>
          <a:solidFill>
            <a:srgbClr val="5E4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33400" y="2364105"/>
            <a:ext cx="1905000" cy="342900"/>
          </a:xfrm>
          <a:prstGeom prst="roundRect">
            <a:avLst>
              <a:gd name="adj" fmla="val 22222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0550" y="2364105"/>
            <a:ext cx="17907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DE68A"/>
                </a:solidFill>
                <a:latin typeface="Consolas"/>
              </a:rPr>
              <a:t>STALLED_NO_GAS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2638" y="2116455"/>
            <a:ext cx="9525" cy="247650"/>
          </a:xfrm>
          <a:prstGeom prst="rect">
            <a:avLst/>
          </a:prstGeom>
          <a:solidFill>
            <a:srgbClr val="5E4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914900" y="2364105"/>
            <a:ext cx="1905000" cy="342900"/>
          </a:xfrm>
          <a:prstGeom prst="roundRect">
            <a:avLst>
              <a:gd name="adj" fmla="val 22222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72050" y="2364105"/>
            <a:ext cx="17907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DE68A"/>
                </a:solidFill>
                <a:latin typeface="Consolas"/>
              </a:rPr>
              <a:t>STALLED_TIMEOUT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3388" y="2116455"/>
            <a:ext cx="9525" cy="247650"/>
          </a:xfrm>
          <a:prstGeom prst="rect">
            <a:avLst/>
          </a:prstGeom>
          <a:solidFill>
            <a:srgbClr val="5E4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105650" y="2364105"/>
            <a:ext cx="1905000" cy="342900"/>
          </a:xfrm>
          <a:prstGeom prst="roundRect">
            <a:avLst>
              <a:gd name="adj" fmla="val 22222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62800" y="2364105"/>
            <a:ext cx="17907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DE68A"/>
                </a:solidFill>
                <a:latin typeface="Consolas"/>
              </a:rPr>
              <a:t>AMBIGUOUS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400" y="2954655"/>
            <a:ext cx="8686800" cy="704850"/>
          </a:xfrm>
          <a:prstGeom prst="roundRect">
            <a:avLst>
              <a:gd name="adj" fmla="val 13513"/>
            </a:avLst>
          </a:prstGeom>
          <a:solidFill>
            <a:srgbClr val="0D1C1B"/>
          </a:solidFill>
          <a:ln w="9525">
            <a:solidFill>
              <a:srgbClr val="164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4850" y="3088005"/>
            <a:ext cx="83439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1" i="0">
                <a:solidFill>
                  <a:srgbClr val="D1FAE5"/>
                </a:solidFill>
                <a:latin typeface="Arial"/>
              </a:rPr>
              <a:t>CREDITED needs both sides to agree: </a:t>
            </a:r>
            <a:r>
              <a:rPr sz="1125" b="0" i="0">
                <a:solidFill>
                  <a:srgbClr val="A7F3D0"/>
                </a:solidFill>
                <a:latin typeface="Arial"/>
              </a:rPr>
              <a:t>the real on-chain receipt read via RPC (never trusting the client) </a:t>
            </a:r>
            <a:r>
              <a:rPr sz="1125" b="0" i="1">
                <a:solidFill>
                  <a:srgbClr val="A7F3D0"/>
                </a:solidFill>
                <a:latin typeface="Arial"/>
              </a:rPr>
              <a:t>and</a:t>
            </a:r>
            <a:r>
              <a:rPr sz="1125" b="0" i="0">
                <a:solidFill>
                  <a:srgbClr val="A7F3D0"/>
                </a:solidFill>
                <a:latin typeface="Arial"/>
              </a:rPr>
              <a:t> the Hyperliquid balance signal.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400" y="3773805"/>
            <a:ext cx="8686800" cy="590550"/>
          </a:xfrm>
          <a:prstGeom prst="roundRect">
            <a:avLst>
              <a:gd name="adj" fmla="val 16129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4850" y="3907155"/>
            <a:ext cx="83439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FDE68A"/>
                </a:solidFill>
                <a:latin typeface="Arial"/>
              </a:rPr>
              <a:t>Disagree past the window → flagged </a:t>
            </a:r>
            <a:r>
              <a:rPr sz="1125" b="1" i="0">
                <a:solidFill>
                  <a:srgbClr val="FEF3C7"/>
                </a:solidFill>
                <a:latin typeface="Arial"/>
              </a:rPr>
              <a:t>AMBIGUOUS</a:t>
            </a:r>
            <a:r>
              <a:rPr sz="1125" b="0" i="0">
                <a:solidFill>
                  <a:srgbClr val="FDE68A"/>
                </a:solidFill>
                <a:latin typeface="Arial"/>
              </a:rPr>
              <a:t> for investigation. Never a forever-spinner, never a silent retry.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4478655"/>
            <a:ext cx="8686800" cy="742950"/>
          </a:xfrm>
          <a:prstGeom prst="roundRect">
            <a:avLst>
              <a:gd name="adj" fmla="val 12820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04850" y="4612005"/>
            <a:ext cx="83439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25" b="1" i="0">
                <a:solidFill>
                  <a:srgbClr val="F8FAFC"/>
                </a:solidFill>
                <a:latin typeface="Arial"/>
              </a:rPr>
              <a:t>Duplicate-deposit block:</a:t>
            </a:r>
            <a:r>
              <a:rPr sz="1125" b="0" i="0">
                <a:solidFill>
                  <a:srgbClr val="94A3B8"/>
                </a:solidFill>
                <a:latin typeface="Arial"/>
              </a:rPr>
              <a:t> a second deposit for the same wallet + amount while one is in-flight is refused with a link to the live status. </a:t>
            </a:r>
            <a:r>
              <a:rPr sz="1125" b="0" i="0">
                <a:solidFill>
                  <a:srgbClr val="66F2FF"/>
                </a:solidFill>
                <a:latin typeface="Arial"/>
              </a:rPr>
              <a:t>Verified on testnet — HTTP 409.</a:t>
            </a:r>
          </a:p>
        </p:txBody>
      </p:sp>
      <p:pic>
        <p:nvPicPr>
          <p:cNvPr id="33" name="Picture 32" descr="07-status-ambiguous.png"/>
          <p:cNvPicPr>
            <a:picLocks noChangeAspect="1"/>
          </p:cNvPicPr>
          <p:nvPr/>
        </p:nvPicPr>
        <p:blipFill>
          <a:blip r:embed="rId2"/>
          <a:srcRect b="2227"/>
          <a:stretch>
            <a:fillRect/>
          </a:stretch>
        </p:blipFill>
        <p:spPr>
          <a:xfrm>
            <a:off x="9544050" y="1697355"/>
            <a:ext cx="2114550" cy="447675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9544050" y="6259830"/>
            <a:ext cx="21145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LIVE STATUS TRACKER · REAL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73333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04 — FIVE UX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One root cause, five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Not five unrelated patches — every layer attacks state opacity.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697355"/>
            <a:ext cx="2118360" cy="2171700"/>
          </a:xfrm>
          <a:prstGeom prst="roundRect">
            <a:avLst>
              <a:gd name="adj" fmla="val 44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23900" y="186880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8675" y="1973580"/>
            <a:ext cx="76200" cy="76200"/>
          </a:xfrm>
          <a:prstGeom prst="ellipse">
            <a:avLst/>
          </a:prstGeom>
          <a:solidFill>
            <a:srgbClr val="6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3900" y="2268855"/>
            <a:ext cx="173736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6F2FF"/>
                </a:solidFill>
                <a:latin typeface="Consolas"/>
              </a:rPr>
              <a:t>LAYER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478405"/>
            <a:ext cx="17373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62" b="1" i="0">
                <a:solidFill>
                  <a:srgbClr val="E2E8F0"/>
                </a:solidFill>
                <a:latin typeface="Arial"/>
              </a:rPr>
              <a:t>Exact-amount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954655"/>
            <a:ext cx="173736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Unlimited allowance is opt-in and honestly labelled — never the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5110" y="1697355"/>
            <a:ext cx="2118360" cy="2171700"/>
          </a:xfrm>
          <a:prstGeom prst="roundRect">
            <a:avLst>
              <a:gd name="adj" fmla="val 44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975610" y="186880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080385" y="1973580"/>
            <a:ext cx="76200" cy="76200"/>
          </a:xfrm>
          <a:prstGeom prst="ellipse">
            <a:avLst/>
          </a:prstGeom>
          <a:solidFill>
            <a:srgbClr val="6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5610" y="2268855"/>
            <a:ext cx="173736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6F2FF"/>
                </a:solidFill>
                <a:latin typeface="Consolas"/>
              </a:rPr>
              <a:t>LAYER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5610" y="2478405"/>
            <a:ext cx="17373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62" b="1" i="0">
                <a:solidFill>
                  <a:srgbClr val="E2E8F0"/>
                </a:solidFill>
                <a:latin typeface="Arial"/>
              </a:rPr>
              <a:t>Plain-language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5610" y="2954655"/>
            <a:ext cx="173736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“You don’t have enough ETH to pay the network fee” — zero crypto background assumed.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6820" y="1697355"/>
            <a:ext cx="2118360" cy="2171700"/>
          </a:xfrm>
          <a:prstGeom prst="roundRect">
            <a:avLst>
              <a:gd name="adj" fmla="val 44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227320" y="186880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332095" y="1973580"/>
            <a:ext cx="76200" cy="76200"/>
          </a:xfrm>
          <a:prstGeom prst="ellipse">
            <a:avLst/>
          </a:prstGeom>
          <a:solidFill>
            <a:srgbClr val="6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27320" y="2268855"/>
            <a:ext cx="173736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6F2FF"/>
                </a:solidFill>
                <a:latin typeface="Consolas"/>
              </a:rPr>
              <a:t>LAYER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320" y="2478405"/>
            <a:ext cx="17373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62" b="1" i="0">
                <a:solidFill>
                  <a:srgbClr val="E2E8F0"/>
                </a:solidFill>
                <a:latin typeface="Arial"/>
              </a:rPr>
              <a:t>Full address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320" y="2954655"/>
            <a:ext cx="173736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Never truncated, with an explicit lookalike-address warning. Address poisoning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8530" y="1697355"/>
            <a:ext cx="2118360" cy="2171700"/>
          </a:xfrm>
          <a:prstGeom prst="roundRect">
            <a:avLst>
              <a:gd name="adj" fmla="val 44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479030" y="186880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583805" y="1973580"/>
            <a:ext cx="76200" cy="76200"/>
          </a:xfrm>
          <a:prstGeom prst="ellipse">
            <a:avLst/>
          </a:prstGeom>
          <a:solidFill>
            <a:srgbClr val="6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79030" y="2268855"/>
            <a:ext cx="173736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6F2FF"/>
                </a:solidFill>
                <a:latin typeface="Consolas"/>
              </a:rPr>
              <a:t>LAYER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030" y="2478405"/>
            <a:ext cx="17373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62" b="1" i="0">
                <a:solidFill>
                  <a:srgbClr val="E2E8F0"/>
                </a:solidFill>
                <a:latin typeface="Arial"/>
              </a:rPr>
              <a:t>Wallet-role labelling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030" y="2954655"/>
            <a:ext cx="173736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“Signing in as / Funds coming from / Will be tradable in” — never a bare “your wallet.”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0240" y="1697355"/>
            <a:ext cx="2118360" cy="2171700"/>
          </a:xfrm>
          <a:prstGeom prst="roundRect">
            <a:avLst>
              <a:gd name="adj" fmla="val 44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730740" y="186880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835515" y="1973580"/>
            <a:ext cx="76200" cy="76200"/>
          </a:xfrm>
          <a:prstGeom prst="ellipse">
            <a:avLst/>
          </a:prstGeom>
          <a:solidFill>
            <a:srgbClr val="6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30740" y="2268855"/>
            <a:ext cx="173736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6F2FF"/>
                </a:solidFill>
                <a:latin typeface="Consolas"/>
              </a:rPr>
              <a:t>LAYER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0740" y="2478405"/>
            <a:ext cx="17373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62" b="1" i="0">
                <a:solidFill>
                  <a:srgbClr val="E2E8F0"/>
                </a:solidFill>
                <a:latin typeface="Arial"/>
              </a:rPr>
              <a:t>KOL disclosure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0740" y="2954655"/>
            <a:ext cx="173736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Persistent, compliance-grade: Exchange O is independent — the decision is yours alone.</a:t>
            </a:r>
          </a:p>
        </p:txBody>
      </p:sp>
      <p:pic>
        <p:nvPicPr>
          <p:cNvPr id="37" name="Picture 36" descr="05-approve.png"/>
          <p:cNvPicPr>
            <a:picLocks noChangeAspect="1"/>
          </p:cNvPicPr>
          <p:nvPr/>
        </p:nvPicPr>
        <p:blipFill>
          <a:blip r:embed="rId2"/>
          <a:srcRect b="44689"/>
          <a:stretch>
            <a:fillRect/>
          </a:stretch>
        </p:blipFill>
        <p:spPr>
          <a:xfrm>
            <a:off x="533400" y="4097655"/>
            <a:ext cx="1638300" cy="196215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pic>
        <p:nvPicPr>
          <p:cNvPr id="38" name="Picture 37" descr="04-confirm-address.png"/>
          <p:cNvPicPr>
            <a:picLocks noChangeAspect="1"/>
          </p:cNvPicPr>
          <p:nvPr/>
        </p:nvPicPr>
        <p:blipFill>
          <a:blip r:embed="rId3"/>
          <a:srcRect b="44689"/>
          <a:stretch>
            <a:fillRect/>
          </a:stretch>
        </p:blipFill>
        <p:spPr>
          <a:xfrm>
            <a:off x="2362200" y="4097655"/>
            <a:ext cx="1638300" cy="196215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sp>
        <p:nvSpPr>
          <p:cNvPr id="39" name="Rounded Rectangle 38"/>
          <p:cNvSpPr/>
          <p:nvPr/>
        </p:nvSpPr>
        <p:spPr>
          <a:xfrm>
            <a:off x="4191000" y="4688205"/>
            <a:ext cx="7467600" cy="781050"/>
          </a:xfrm>
          <a:prstGeom prst="roundRect">
            <a:avLst>
              <a:gd name="adj" fmla="val 12195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62450" y="4821555"/>
            <a:ext cx="712470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6F7FF"/>
                </a:solidFill>
                <a:latin typeface="Arial"/>
              </a:rPr>
              <a:t>All five ship in the live PoC. The approve screen alone carries three of them — </a:t>
            </a:r>
            <a:r>
              <a:rPr sz="1125" b="1" i="0">
                <a:solidFill>
                  <a:srgbClr val="CFFAFE"/>
                </a:solidFill>
                <a:latin typeface="Arial"/>
              </a:rPr>
              <a:t>roles, plain-language gas failure, and approval scope</a:t>
            </a:r>
            <a:r>
              <a:rPr sz="1125" b="0" i="0">
                <a:solidFill>
                  <a:srgbClr val="A6F7FF"/>
                </a:solidFill>
                <a:latin typeface="Arial"/>
              </a:rPr>
              <a:t> — on one mobile viewport.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8000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05 —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The review step, screen by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Captured from the deployed PoC on Arbitrum Sepolia — narrated over stills, not clicked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762250"/>
            <a:ext cx="6477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Arial"/>
              </a:rPr>
              <a:t>DEPLOYED 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2971800"/>
            <a:ext cx="6477000" cy="514350"/>
          </a:xfrm>
          <a:prstGeom prst="roundRect">
            <a:avLst>
              <a:gd name="adj" fmla="val 16666"/>
            </a:avLst>
          </a:prstGeom>
          <a:solidFill>
            <a:srgbClr val="06070A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4850" y="2971800"/>
            <a:ext cx="6134100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6F2FF"/>
                </a:solidFill>
                <a:latin typeface="Consolas"/>
              </a:rPr>
              <a:t>https://projecto-blond.vercel.app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676650"/>
            <a:ext cx="64770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25" b="0" i="0">
                <a:solidFill>
                  <a:srgbClr val="94A3B8"/>
                </a:solidFill>
                <a:latin typeface="Arial"/>
              </a:rPr>
              <a:t>Real Next.js app, real wallet connection, real Arbitrum Sepolia transactions. </a:t>
            </a:r>
            <a:r>
              <a:rPr sz="1125" b="1" i="0">
                <a:solidFill>
                  <a:srgbClr val="F8FAFC"/>
                </a:solidFill>
                <a:latin typeface="Arial"/>
              </a:rPr>
              <a:t>No real funds involved.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4267200"/>
            <a:ext cx="2979833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38175" y="4371975"/>
            <a:ext cx="57150" cy="5715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1525" y="4267200"/>
            <a:ext cx="2636933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STEP 3 — FULL ADDRESS, NEVER TRUNCATED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4619625"/>
            <a:ext cx="3465584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8175" y="4724400"/>
            <a:ext cx="57150" cy="5715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1525" y="4619625"/>
            <a:ext cx="3122684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WALLET ROLES: SIGNING IN / FUNDING / TRADABLE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4972050"/>
            <a:ext cx="3534977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8175" y="5076825"/>
            <a:ext cx="57150" cy="5715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1525" y="4972050"/>
            <a:ext cx="3192077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STEP 4 — APPROVAL DEFAULTS TO THIS AMOUNT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324475"/>
            <a:ext cx="3118619" cy="266700"/>
          </a:xfrm>
          <a:prstGeom prst="roundRect">
            <a:avLst>
              <a:gd name="adj" fmla="val 21428"/>
            </a:avLst>
          </a:prstGeom>
          <a:solidFill>
            <a:srgbClr val="131518"/>
          </a:solidFill>
          <a:ln w="9525">
            <a:solidFill>
              <a:srgbClr val="2F3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8175" y="5429250"/>
            <a:ext cx="57150" cy="5715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1525" y="5324475"/>
            <a:ext cx="2775719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CBD5E1"/>
                </a:solidFill>
                <a:latin typeface="Consolas"/>
              </a:rPr>
              <a:t>PLAIN-LANGUAGE GAS FAILURE, WITH THE FIX</a:t>
            </a:r>
          </a:p>
        </p:txBody>
      </p:sp>
      <p:pic>
        <p:nvPicPr>
          <p:cNvPr id="23" name="Picture 22" descr="04-confirm-address.png"/>
          <p:cNvPicPr>
            <a:picLocks noChangeAspect="1"/>
          </p:cNvPicPr>
          <p:nvPr/>
        </p:nvPicPr>
        <p:blipFill>
          <a:blip r:embed="rId2"/>
          <a:srcRect b="1649"/>
          <a:stretch>
            <a:fillRect/>
          </a:stretch>
        </p:blipFill>
        <p:spPr>
          <a:xfrm>
            <a:off x="7334250" y="1697355"/>
            <a:ext cx="2057400" cy="438150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334250" y="6164580"/>
            <a:ext cx="20574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STEP 3 · CONFIRM ADDRESS</a:t>
            </a:r>
          </a:p>
        </p:txBody>
      </p:sp>
      <p:pic>
        <p:nvPicPr>
          <p:cNvPr id="25" name="Picture 24" descr="05-approve.png"/>
          <p:cNvPicPr>
            <a:picLocks noChangeAspect="1"/>
          </p:cNvPicPr>
          <p:nvPr/>
        </p:nvPicPr>
        <p:blipFill>
          <a:blip r:embed="rId3"/>
          <a:srcRect b="1649"/>
          <a:stretch>
            <a:fillRect/>
          </a:stretch>
        </p:blipFill>
        <p:spPr>
          <a:xfrm>
            <a:off x="9601200" y="1697355"/>
            <a:ext cx="2057400" cy="438150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9601200" y="6164580"/>
            <a:ext cx="20574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STEP 4 · APPROVE + DEPOSIT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482667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05550"/>
            <a:ext cx="82677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MOCK ERC-20 WITH IDENTICAL USDC SEMANTICS — CIRCLE’S FAUCET NEEDS AN API KEY. LABELLED, NOT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1100" y="63055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TESTNET-EVIDENCE.MD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06 —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Real transactions. Not simulated.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36345"/>
            <a:ext cx="11125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Every hash below is confirmed on Arbitrum Sepolia and independently verifiable.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697355"/>
            <a:ext cx="11125200" cy="914400"/>
          </a:xfrm>
          <a:prstGeom prst="roundRect">
            <a:avLst>
              <a:gd name="adj" fmla="val 1041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3900" y="1868805"/>
            <a:ext cx="10744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E2E8F0"/>
                </a:solidFill>
                <a:latin typeface="Arial"/>
              </a:rPr>
              <a:t>1 — </a:t>
            </a:r>
            <a:r>
              <a:rPr sz="1050" b="1" i="0">
                <a:solidFill>
                  <a:srgbClr val="E2E8F0"/>
                </a:solidFill>
                <a:latin typeface="Consolas"/>
              </a:rPr>
              <a:t>approve(relayer, 25.000000)</a:t>
            </a:r>
            <a:r>
              <a:rPr sz="1125" b="1" i="0">
                <a:solidFill>
                  <a:srgbClr val="E2E8F0"/>
                </a:solidFill>
                <a:latin typeface="Arial"/>
              </a:rPr>
              <a:t> · signed by the user</a:t>
            </a:r>
            <a:r>
              <a:rPr sz="825" b="0" i="0">
                <a:solidFill>
                  <a:srgbClr val="64748B"/>
                </a:solidFill>
                <a:latin typeface="Consolas"/>
              </a:rPr>
              <a:t>    block 309873172 ·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900" y="2135505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06070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7250" y="2135505"/>
            <a:ext cx="1047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Consolas"/>
              </a:rPr>
              <a:t>0xc110d16ae895b7bc9ec8483c6c788a3967f072b16eaaeb0964d46b6f1a3f6022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2726055"/>
            <a:ext cx="11125200" cy="914400"/>
          </a:xfrm>
          <a:prstGeom prst="roundRect">
            <a:avLst>
              <a:gd name="adj" fmla="val 1041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3900" y="2897505"/>
            <a:ext cx="10744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E2E8F0"/>
                </a:solidFill>
                <a:latin typeface="Arial"/>
              </a:rPr>
              <a:t>2 — </a:t>
            </a:r>
            <a:r>
              <a:rPr sz="1050" b="1" i="0">
                <a:solidFill>
                  <a:srgbClr val="E2E8F0"/>
                </a:solidFill>
                <a:latin typeface="Consolas"/>
              </a:rPr>
              <a:t>transferFrom(user, relayer, 25.000000)</a:t>
            </a:r>
            <a:r>
              <a:rPr sz="1125" b="1" i="0">
                <a:solidFill>
                  <a:srgbClr val="E2E8F0"/>
                </a:solidFill>
                <a:latin typeface="Arial"/>
              </a:rPr>
              <a:t> · signed by the relayer</a:t>
            </a:r>
            <a:r>
              <a:rPr sz="825" b="0" i="0">
                <a:solidFill>
                  <a:srgbClr val="64748B"/>
                </a:solidFill>
                <a:latin typeface="Consolas"/>
              </a:rPr>
              <a:t>    block 309873206 ·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" y="3164205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06070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250" y="3164205"/>
            <a:ext cx="1047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BD5E1"/>
                </a:solidFill>
                <a:latin typeface="Consolas"/>
              </a:rPr>
              <a:t>0xbaf69d4752b4f1e3a54614e71a1eb25b0c7b553bb829c5a8a5111df1e513e723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888105"/>
            <a:ext cx="11125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64748B"/>
                </a:solidFill>
                <a:latin typeface="Consolas"/>
              </a:rPr>
              <a:t>verify → https://sepolia.arbiscan.io/tx/&lt;hash&gt;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4326255"/>
            <a:ext cx="3619500" cy="1104900"/>
          </a:xfrm>
          <a:prstGeom prst="roundRect">
            <a:avLst>
              <a:gd name="adj" fmla="val 8620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3900" y="449770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66F2FF"/>
                </a:solidFill>
                <a:latin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897755"/>
            <a:ext cx="3238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real confirmed transactions — none invented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6250" y="4326255"/>
            <a:ext cx="3619500" cy="1104900"/>
          </a:xfrm>
          <a:prstGeom prst="roundRect">
            <a:avLst>
              <a:gd name="adj" fmla="val 8620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6750" y="449770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66F2FF"/>
                </a:solidFill>
                <a:latin typeface="Consolas"/>
              </a:rP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6750" y="4897755"/>
            <a:ext cx="3238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allowance left after transfer — exact-amount scoping, proven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9100" y="4326255"/>
            <a:ext cx="3619500" cy="1104900"/>
          </a:xfrm>
          <a:prstGeom prst="roundRect">
            <a:avLst>
              <a:gd name="adj" fmla="val 8620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449770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66F2FF"/>
                </a:solidFill>
                <a:latin typeface="Consolas"/>
              </a:rPr>
              <a:t>409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97755"/>
            <a:ext cx="3238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94A3B8"/>
                </a:solidFill>
                <a:latin typeface="Arial"/>
              </a:rPr>
              <a:t>duplicate deposit blocked before any new tx was attempted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37333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07 —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How we’d know it worked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388745"/>
            <a:ext cx="11125200" cy="1504950"/>
          </a:xfrm>
          <a:prstGeom prst="roundRect">
            <a:avLst>
              <a:gd name="adj" fmla="val 6329"/>
            </a:avLst>
          </a:prstGeom>
          <a:solidFill>
            <a:srgbClr val="0C1E23"/>
          </a:solidFill>
          <a:ln w="9525">
            <a:solidFill>
              <a:srgbClr val="12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1050" y="1598295"/>
            <a:ext cx="106299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54C8D3"/>
                </a:solidFill>
                <a:latin typeface="Arial"/>
              </a:rPr>
              <a:t>PRIMARY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845945"/>
            <a:ext cx="106299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025" b="1" i="0">
                <a:solidFill>
                  <a:srgbClr val="F1F5F9"/>
                </a:solidFill>
                <a:latin typeface="Arial"/>
              </a:rPr>
              <a:t>% of deposits reaching </a:t>
            </a:r>
            <a:r>
              <a:rPr sz="1800" b="1" i="0">
                <a:solidFill>
                  <a:srgbClr val="66F2FF"/>
                </a:solidFill>
                <a:latin typeface="Consolas"/>
              </a:rPr>
              <a:t>CREDITED</a:t>
            </a:r>
            <a:r>
              <a:rPr sz="2025" b="1" i="0">
                <a:solidFill>
                  <a:srgbClr val="F1F5F9"/>
                </a:solidFill>
                <a:latin typeface="Arial"/>
              </a:rPr>
              <a:t> without a re-deposit attempt or a support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007995"/>
            <a:ext cx="111252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25" b="0" i="0">
                <a:solidFill>
                  <a:srgbClr val="94A3B8"/>
                </a:solidFill>
                <a:latin typeface="Arial"/>
              </a:rPr>
              <a:t>Targets the two named failure modes directly — not a generic conversion rate this fix only influences.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465195"/>
            <a:ext cx="111252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64748B"/>
                </a:solidFill>
                <a:latin typeface="Arial"/>
              </a:rPr>
              <a:t>GUARDRAILS — MUST NOT REGRESS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3703320"/>
            <a:ext cx="3619500" cy="1162050"/>
          </a:xfrm>
          <a:prstGeom prst="roundRect">
            <a:avLst>
              <a:gd name="adj" fmla="val 81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3900" y="387477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 i="0">
                <a:solidFill>
                  <a:srgbClr val="A6F7FF"/>
                </a:solidFill>
                <a:latin typeface="Consolas"/>
              </a:rPr>
              <a:t>Time-to-CREDITED p50 / p90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141470"/>
            <a:ext cx="32385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94A3B8"/>
                </a:solidFill>
                <a:latin typeface="Arial"/>
              </a:rPr>
              <a:t>A rising p90 is an infrastructure signal, not a UI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3703320"/>
            <a:ext cx="3619500" cy="1162050"/>
          </a:xfrm>
          <a:prstGeom prst="roundRect">
            <a:avLst>
              <a:gd name="adj" fmla="val 81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76750" y="387477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 i="0">
                <a:solidFill>
                  <a:srgbClr val="A6F7FF"/>
                </a:solidFill>
                <a:latin typeface="Consolas"/>
              </a:rPr>
              <a:t>AMBIGUOUS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4141470"/>
            <a:ext cx="32385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94A3B8"/>
                </a:solidFill>
                <a:latin typeface="Arial"/>
              </a:rPr>
              <a:t>Rising means reconciliation genuinely disagrees more often. Investigate — don’t extend the timeout.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3703320"/>
            <a:ext cx="3619500" cy="1162050"/>
          </a:xfrm>
          <a:prstGeom prst="roundRect">
            <a:avLst>
              <a:gd name="adj" fmla="val 8196"/>
            </a:avLst>
          </a:prstGeom>
          <a:solidFill>
            <a:srgbClr val="10131A"/>
          </a:solidFill>
          <a:ln w="9525">
            <a:solidFill>
              <a:srgbClr val="34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387477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 i="0">
                <a:solidFill>
                  <a:srgbClr val="A6F7FF"/>
                </a:solidFill>
                <a:latin typeface="Consolas"/>
              </a:rPr>
              <a:t>Duplicate-block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41470"/>
            <a:ext cx="32385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94A3B8"/>
                </a:solidFill>
                <a:latin typeface="Arial"/>
              </a:rPr>
              <a:t>A spike means the status UI isn’t reassuring users fast enough about their first deposit.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055870"/>
            <a:ext cx="11125200" cy="704850"/>
          </a:xfrm>
          <a:prstGeom prst="roundRect">
            <a:avLst>
              <a:gd name="adj" fmla="val 13513"/>
            </a:avLst>
          </a:prstGeom>
          <a:solidFill>
            <a:srgbClr val="1D1A12"/>
          </a:solidFill>
          <a:ln w="9525">
            <a:solidFill>
              <a:srgbClr val="4D3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4850" y="5189220"/>
            <a:ext cx="107823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1" i="0">
                <a:solidFill>
                  <a:srgbClr val="FEF3C7"/>
                </a:solidFill>
                <a:latin typeface="Arial"/>
              </a:rPr>
              <a:t>Not available, and not invented: </a:t>
            </a:r>
            <a:r>
              <a:rPr sz="1125" b="0" i="0">
                <a:solidFill>
                  <a:srgbClr val="FDE68A"/>
                </a:solidFill>
                <a:latin typeface="Arial"/>
              </a:rPr>
              <a:t>real funnel drop-off, support-ticket volume, and the true production time-to-credit distribution. The brief withholds them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720"/>
            </a:gs>
            <a:gs pos="62000">
              <a:srgbClr val="0A0C1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22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0" y="6591300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05550"/>
            <a:ext cx="82677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RYU MATSUMOTO · PROJECT O CHALLENGE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1100" y="63055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7" b="0" i="0">
                <a:solidFill>
                  <a:srgbClr val="525F72"/>
                </a:solidFill>
                <a:latin typeface="Consolas"/>
              </a:rPr>
              <a:t>PROJECTO-BLOND.VERCEL.APP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95300"/>
            <a:ext cx="11125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6F2FF"/>
                </a:solidFill>
                <a:latin typeface="Consolas"/>
              </a:rPr>
              <a:t>08 — HONEST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42950"/>
            <a:ext cx="1112520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8FAFC"/>
                </a:solidFill>
                <a:latin typeface="Arial"/>
              </a:rPr>
              <a:t>What’s mocked, and what’s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388745"/>
            <a:ext cx="43243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D7A421"/>
                </a:solidFill>
                <a:latin typeface="Arial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645920"/>
            <a:ext cx="4324350" cy="2381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FDE68A"/>
                </a:solidFill>
                <a:latin typeface="Arial"/>
              </a:rPr>
              <a:t>•  No real database — in-memory store; record loss observed live, not theorised</a:t>
            </a:r>
          </a:p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FDE68A"/>
                </a:solidFill>
                <a:latin typeface="Arial"/>
              </a:rPr>
              <a:t>•  Hyperliquid credit is a timer, not a real balance read</a:t>
            </a:r>
          </a:p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FDE68A"/>
                </a:solidFill>
                <a:latin typeface="Arial"/>
              </a:rPr>
              <a:t>•  Mock ERC-20, not Circle testnet USDC</a:t>
            </a:r>
          </a:p>
          <a:p>
            <a:pPr algn="l" marL="161925" indent="-161925">
              <a:lnSpc>
                <a:spcPct val="145000"/>
              </a:lnSpc>
            </a:pPr>
            <a:r>
              <a:rPr sz="1087" b="0" i="0">
                <a:solidFill>
                  <a:srgbClr val="FDE68A"/>
                </a:solidFill>
                <a:latin typeface="Arial"/>
              </a:rPr>
              <a:t>•  Mocked login; no human MetaMask click-through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250" y="1388745"/>
            <a:ext cx="43243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25" b="1" i="0">
                <a:solidFill>
                  <a:srgbClr val="1EC6D7"/>
                </a:solidFill>
                <a:latin typeface="Arial"/>
              </a:rPr>
              <a:t>BEFORE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0" y="1645920"/>
            <a:ext cx="4324350" cy="2381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CBD5E1"/>
                </a:solidFill>
                <a:latin typeface="Arial"/>
              </a:rPr>
              <a:t>•  External store — fixes lookups and cross-instance duplicate blocking</a:t>
            </a:r>
          </a:p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CBD5E1"/>
                </a:solidFill>
                <a:latin typeface="Arial"/>
              </a:rPr>
              <a:t>•  Real Hyperliquid balance integration</a:t>
            </a:r>
          </a:p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CBD5E1"/>
                </a:solidFill>
                <a:latin typeface="Arial"/>
              </a:rPr>
              <a:t>•  Re-verify the live deposit rail — the legacy bridge is deprecated</a:t>
            </a:r>
          </a:p>
          <a:p>
            <a:pPr algn="l" marL="161925" indent="-161925">
              <a:lnSpc>
                <a:spcPct val="145000"/>
              </a:lnSpc>
              <a:spcAft>
                <a:spcPts val="825"/>
              </a:spcAft>
            </a:pPr>
            <a:r>
              <a:rPr sz="1087" b="0" i="0">
                <a:solidFill>
                  <a:srgbClr val="CBD5E1"/>
                </a:solidFill>
                <a:latin typeface="Arial"/>
              </a:rPr>
              <a:t>•  Calibrate AMBIGUOUS thresholds on real bridging latency</a:t>
            </a:r>
          </a:p>
          <a:p>
            <a:pPr algn="l" marL="161925" indent="-161925">
              <a:lnSpc>
                <a:spcPct val="145000"/>
              </a:lnSpc>
            </a:pPr>
            <a:r>
              <a:rPr sz="1087" b="0" i="0">
                <a:solidFill>
                  <a:srgbClr val="CBD5E1"/>
                </a:solidFill>
                <a:latin typeface="Arial"/>
              </a:rPr>
              <a:t>•  Sponsored gas for the no-ETH dead-end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4208145"/>
            <a:ext cx="8839200" cy="552450"/>
          </a:xfrm>
          <a:prstGeom prst="roundRect">
            <a:avLst>
              <a:gd name="adj" fmla="val 17241"/>
            </a:avLst>
          </a:prstGeom>
          <a:solidFill>
            <a:srgbClr val="0C1E23"/>
          </a:solidFill>
          <a:ln w="9525">
            <a:solidFill>
              <a:srgbClr val="114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4850" y="4341495"/>
            <a:ext cx="84963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6F7FF"/>
                </a:solidFill>
                <a:latin typeface="Arial"/>
              </a:rPr>
              <a:t>Every mock is labelled in the UI itself — including the failure screen when the PoC loses its own record.</a:t>
            </a:r>
          </a:p>
        </p:txBody>
      </p:sp>
      <p:pic>
        <p:nvPicPr>
          <p:cNvPr id="14" name="Picture 13" descr="06-status-credited.png"/>
          <p:cNvPicPr>
            <a:picLocks noChangeAspect="1"/>
          </p:cNvPicPr>
          <p:nvPr/>
        </p:nvPicPr>
        <p:blipFill>
          <a:blip r:embed="rId2"/>
          <a:srcRect b="4945"/>
          <a:stretch>
            <a:fillRect/>
          </a:stretch>
        </p:blipFill>
        <p:spPr>
          <a:xfrm>
            <a:off x="9696450" y="1388745"/>
            <a:ext cx="1962150" cy="4038600"/>
          </a:xfrm>
          <a:prstGeom prst="rect">
            <a:avLst/>
          </a:prstGeom>
          <a:ln w="9525">
            <a:solidFill>
              <a:srgbClr val="2F3034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696450" y="5513070"/>
            <a:ext cx="19621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" b="0" i="0">
                <a:solidFill>
                  <a:srgbClr val="64748B"/>
                </a:solidFill>
                <a:latin typeface="Consolas"/>
              </a:rPr>
              <a:t>LIMITATION, SURFACED HONESTLY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